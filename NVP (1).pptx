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7" d="100"/>
          <a:sy n="87" d="100"/>
        </p:scale>
        <p:origin x="490" y="8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1093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504713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E984000-D093-498D-A5AE-8F10228A6793}" type="datetimeFigureOut">
              <a:rPr lang="en-US"/>
              <a:t>2/8/2026</a:t>
            </a:fld>
            <a:endParaRPr lang="en-US"/>
          </a:p>
        </p:txBody>
      </p:sp>
      <p:sp>
        <p:nvSpPr>
          <p:cNvPr id="73537946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7370909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575910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890513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BD56BCD-AC5E-4F72-AC5D-BB76443B2B6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CBB226-A8A8-9E18-E470-16624A7A2D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9FAF67-0142-CC87-A57E-BC4D18A44E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B672CA-EB5D-7998-6E2E-EB8A92238F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36B636-0B50-6A5B-C854-6DD4BB9AFC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6092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388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03882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BD56BCD-AC5E-4F72-AC5D-BB76443B2B66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829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7639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028401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BD56BCD-AC5E-4F72-AC5D-BB76443B2B66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426883-AD1E-2C5C-BE9C-3D33BB0B9B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45746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5257821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9849201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13869240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709595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0352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606373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6340952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14515080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5785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9887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961508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56662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16966764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016324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2254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3941270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59396804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3840570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3804256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676807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712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447017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307265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44624702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349873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9835912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68933244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033376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915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718421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91101153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0806433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67111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110910730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11250437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54463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5395143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247101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69984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2904507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63209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943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4199119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IN"/>
          </a:p>
        </p:txBody>
      </p:sp>
      <p:sp>
        <p:nvSpPr>
          <p:cNvPr id="49197489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38460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8727840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412708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5550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94372037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984577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17721074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889681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98049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385055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3235512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11133803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677005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02623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00168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9063919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4C80902F-23C4-4F09-B70E-2F8EAABF8D3C}" type="datetimeFigureOut">
              <a:rPr lang="en-IN"/>
              <a:t>08-02-2026</a:t>
            </a:fld>
            <a:endParaRPr lang="en-IN"/>
          </a:p>
        </p:txBody>
      </p:sp>
      <p:sp>
        <p:nvSpPr>
          <p:cNvPr id="207859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7017467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34CB8BD7-B9EA-40F1-B5D8-82713AFBA826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media1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media2.svg"/><Relationship Id="rId7" Type="http://schemas.openxmlformats.org/officeDocument/2006/relationships/image" Target="../media/image7.wmf"/><Relationship Id="rId8" Type="http://schemas.openxmlformats.org/officeDocument/2006/relationships/oleObject" Target="../embeddings/oleObject3.bin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alphaModFix amt="74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669722" name="Title 1"/>
          <p:cNvSpPr>
            <a:spLocks noGrp="1"/>
          </p:cNvSpPr>
          <p:nvPr>
            <p:ph type="ctrTitle"/>
          </p:nvPr>
        </p:nvSpPr>
        <p:spPr bwMode="auto">
          <a:xfrm>
            <a:off x="1694329" y="279681"/>
            <a:ext cx="9144000" cy="158497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1800" b="1">
                <a:latin typeface="Times New Roman"/>
                <a:cs typeface="Times New Roman"/>
              </a:rPr>
              <a:t>STRUCTURAL, MORPHOLOGICAL, AND ELECTROCHEMICAL STUDIES OF Mg DOPED SODIUM VANADIUM PHOSPHATE (Mg-NVP) CATHODE MATERIALS FOR                                                            SIBs</a:t>
            </a:r>
            <a:br>
              <a:rPr lang="en-IN" sz="1800"/>
            </a:br>
            <a:endParaRPr lang="en-IN" sz="1800"/>
          </a:p>
        </p:txBody>
      </p:sp>
      <p:sp>
        <p:nvSpPr>
          <p:cNvPr id="2065898414" name="TextBox 2"/>
          <p:cNvSpPr txBox="1"/>
          <p:nvPr/>
        </p:nvSpPr>
        <p:spPr bwMode="auto">
          <a:xfrm>
            <a:off x="9679464" y="5393769"/>
            <a:ext cx="2465308" cy="442674"/>
          </a:xfrm>
          <a:prstGeom prst="roundRect">
            <a:avLst>
              <a:gd name="adj" fmla="val 16667"/>
            </a:avLst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000" b="1">
                <a:latin typeface="Times New Roman"/>
                <a:ea typeface="+mn-lt"/>
                <a:cs typeface="Times New Roman"/>
              </a:rPr>
              <a:t>Abdussalam Usmani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790538" name="Title 1"/>
          <p:cNvSpPr>
            <a:spLocks noGrp="1"/>
          </p:cNvSpPr>
          <p:nvPr>
            <p:ph type="title"/>
          </p:nvPr>
        </p:nvSpPr>
        <p:spPr bwMode="auto">
          <a:xfrm>
            <a:off x="1928447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sz="2400" b="1">
                <a:latin typeface="Times New Roman"/>
                <a:ea typeface="Calibri"/>
              </a:rPr>
              <a:t>Synthesis &amp; Fabrication of Mg-NVP Cathode for SIB</a:t>
            </a:r>
            <a:endParaRPr lang="en-IN"/>
          </a:p>
        </p:txBody>
      </p:sp>
      <p:pic>
        <p:nvPicPr>
          <p:cNvPr id="845645548" name="Content Placeholder 3" descr="A diagram of different types of laboratory equipment&#10;&#10;Description automatically generated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409893" y="843525"/>
            <a:ext cx="6096415" cy="4957668"/>
          </a:xfrm>
          <a:prstGeom prst="rect">
            <a:avLst/>
          </a:prstGeom>
        </p:spPr>
      </p:pic>
      <p:pic>
        <p:nvPicPr>
          <p:cNvPr id="626329507" name="Graphic 1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6864278" y="1287292"/>
            <a:ext cx="4759568" cy="4840946"/>
          </a:xfrm>
          <a:prstGeom prst="rect">
            <a:avLst/>
          </a:prstGeom>
        </p:spPr>
      </p:pic>
      <p:sp>
        <p:nvSpPr>
          <p:cNvPr id="1410340501" name="TextBox 2"/>
          <p:cNvSpPr txBox="1"/>
          <p:nvPr/>
        </p:nvSpPr>
        <p:spPr bwMode="auto">
          <a:xfrm>
            <a:off x="2850502" y="6261341"/>
            <a:ext cx="650343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600" b="1">
                <a:latin typeface="Calibri"/>
                <a:ea typeface="+mn-lt"/>
                <a:cs typeface="+mn-lt"/>
              </a:rPr>
              <a:t>Fig 1 : Synthesis and Fabrication of Mg-NVP cathode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85587" name="Title 1"/>
          <p:cNvSpPr>
            <a:spLocks noGrp="1"/>
          </p:cNvSpPr>
          <p:nvPr>
            <p:ph type="title"/>
          </p:nvPr>
        </p:nvSpPr>
        <p:spPr bwMode="auto">
          <a:xfrm>
            <a:off x="718279" y="44278"/>
            <a:ext cx="10515600" cy="93289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2400" b="1">
                <a:latin typeface="Times New Roman"/>
                <a:cs typeface="Times New Roman"/>
              </a:rPr>
              <a:t>X-RD,</a:t>
            </a:r>
            <a:r>
              <a:rPr lang="en-IN" sz="2400" b="1">
                <a:latin typeface="Times New Roman"/>
                <a:cs typeface="Times New Roman"/>
              </a:rPr>
              <a:t> SEM &amp; EDS analysis of Mg-NVP</a:t>
            </a:r>
            <a:endParaRPr/>
          </a:p>
        </p:txBody>
      </p:sp>
      <p:pic>
        <p:nvPicPr>
          <p:cNvPr id="906146246" name="Picture 4" descr="A close-up of a rock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946631" y="1012170"/>
            <a:ext cx="3093432" cy="2320074"/>
          </a:xfrm>
          <a:prstGeom prst="rect">
            <a:avLst/>
          </a:prstGeom>
        </p:spPr>
      </p:pic>
      <p:pic>
        <p:nvPicPr>
          <p:cNvPr id="1070290802" name="Picture 6" descr="A close-up of a rock&#10;&#10;Description automatically generated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53199" y="977172"/>
            <a:ext cx="3093432" cy="2320074"/>
          </a:xfrm>
          <a:prstGeom prst="rect">
            <a:avLst/>
          </a:prstGeom>
        </p:spPr>
      </p:pic>
      <p:pic>
        <p:nvPicPr>
          <p:cNvPr id="1583546755" name="Picture 7"/>
          <p:cNvPicPr/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1094282" y="4229703"/>
            <a:ext cx="4559739" cy="2628297"/>
          </a:xfrm>
          <a:prstGeom prst="rect">
            <a:avLst/>
          </a:prstGeom>
        </p:spPr>
      </p:pic>
      <p:sp>
        <p:nvSpPr>
          <p:cNvPr id="62780077" name="Text Box 7"/>
          <p:cNvSpPr txBox="1"/>
          <p:nvPr/>
        </p:nvSpPr>
        <p:spPr bwMode="auto">
          <a:xfrm>
            <a:off x="6096000" y="3597117"/>
            <a:ext cx="5570394" cy="173038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/>
            <a:noAutofit/>
          </a:bodyPr>
          <a:lstStyle/>
          <a:p>
            <a:pPr>
              <a:lnSpc>
                <a:spcPts val="1000"/>
              </a:lnSpc>
              <a:spcAft>
                <a:spcPts val="800"/>
              </a:spcAft>
              <a:defRPr/>
            </a:pPr>
            <a:r>
              <a:rPr lang="en-US" sz="900">
                <a:ea typeface="Calibri"/>
                <a:cs typeface="Times New Roman"/>
              </a:rPr>
              <a:t>Chemical formula	mass%	Atom%	Sigma	Net	K ratio	Line	</a:t>
            </a:r>
            <a:endParaRPr lang="en-IN" sz="1100">
              <a:ea typeface="Calibri"/>
              <a:cs typeface="Times New Roman"/>
            </a:endParaRPr>
          </a:p>
          <a:p>
            <a:pPr>
              <a:lnSpc>
                <a:spcPts val="1000"/>
              </a:lnSpc>
              <a:spcAft>
                <a:spcPts val="800"/>
              </a:spcAft>
              <a:defRPr/>
            </a:pPr>
            <a:r>
              <a:rPr lang="en-US" sz="900">
                <a:ea typeface="Calibri"/>
                <a:cs typeface="Times New Roman"/>
              </a:rPr>
              <a:t>O	38.20	56.30	 0.21	19400	0.0236928	K</a:t>
            </a:r>
            <a:endParaRPr lang="en-IN" sz="1100">
              <a:ea typeface="Calibri"/>
              <a:cs typeface="Times New Roman"/>
            </a:endParaRPr>
          </a:p>
          <a:p>
            <a:pPr>
              <a:lnSpc>
                <a:spcPts val="1000"/>
              </a:lnSpc>
              <a:spcAft>
                <a:spcPts val="800"/>
              </a:spcAft>
              <a:defRPr/>
            </a:pPr>
            <a:r>
              <a:rPr lang="en-US" sz="900">
                <a:ea typeface="Calibri"/>
                <a:cs typeface="Times New Roman"/>
              </a:rPr>
              <a:t>Na	14.97	15.36	 0.13	25846	0.0202160	K</a:t>
            </a:r>
            <a:endParaRPr lang="en-IN" sz="1100">
              <a:ea typeface="Calibri"/>
              <a:cs typeface="Times New Roman"/>
            </a:endParaRPr>
          </a:p>
          <a:p>
            <a:pPr>
              <a:lnSpc>
                <a:spcPts val="1000"/>
              </a:lnSpc>
              <a:spcAft>
                <a:spcPts val="800"/>
              </a:spcAft>
              <a:defRPr/>
            </a:pPr>
            <a:r>
              <a:rPr lang="en-US" sz="900">
                <a:ea typeface="Calibri"/>
                <a:cs typeface="Times New Roman"/>
              </a:rPr>
              <a:t>Mg*	0.40	0.39	 0.05	757	0.0004791	K</a:t>
            </a:r>
            <a:endParaRPr lang="en-IN" sz="1100">
              <a:ea typeface="Calibri"/>
              <a:cs typeface="Times New Roman"/>
            </a:endParaRPr>
          </a:p>
          <a:p>
            <a:pPr>
              <a:lnSpc>
                <a:spcPts val="1000"/>
              </a:lnSpc>
              <a:spcAft>
                <a:spcPts val="800"/>
              </a:spcAft>
              <a:defRPr/>
            </a:pPr>
            <a:r>
              <a:rPr lang="en-US" sz="900">
                <a:ea typeface="Calibri"/>
                <a:cs typeface="Times New Roman"/>
              </a:rPr>
              <a:t>P	21.67	16.50	 0.15	45743	0.0399873	K</a:t>
            </a:r>
            <a:endParaRPr lang="en-IN" sz="1100">
              <a:ea typeface="Calibri"/>
              <a:cs typeface="Times New Roman"/>
            </a:endParaRPr>
          </a:p>
          <a:p>
            <a:pPr>
              <a:lnSpc>
                <a:spcPts val="1000"/>
              </a:lnSpc>
              <a:spcAft>
                <a:spcPts val="800"/>
              </a:spcAft>
              <a:defRPr/>
            </a:pPr>
            <a:r>
              <a:rPr lang="en-US" sz="900">
                <a:ea typeface="Calibri"/>
                <a:cs typeface="Times New Roman"/>
              </a:rPr>
              <a:t>V	24.75	11.46	 0.23	20839	0.0486915	K</a:t>
            </a:r>
            <a:endParaRPr lang="en-IN" sz="1100">
              <a:ea typeface="Calibri"/>
              <a:cs typeface="Times New Roman"/>
            </a:endParaRPr>
          </a:p>
          <a:p>
            <a:pPr>
              <a:lnSpc>
                <a:spcPts val="1000"/>
              </a:lnSpc>
              <a:spcAft>
                <a:spcPts val="800"/>
              </a:spcAft>
              <a:defRPr/>
            </a:pPr>
            <a:r>
              <a:rPr lang="en-US" sz="900">
                <a:ea typeface="Calibri"/>
                <a:cs typeface="Times New Roman"/>
              </a:rPr>
              <a:t>Total	100.00	100.00</a:t>
            </a:r>
            <a:endParaRPr lang="en-IN" sz="1100">
              <a:ea typeface="Calibri"/>
              <a:cs typeface="Times New Roman"/>
            </a:endParaRPr>
          </a:p>
        </p:txBody>
      </p:sp>
      <p:sp>
        <p:nvSpPr>
          <p:cNvPr id="945394718" name="TextBox 3"/>
          <p:cNvSpPr txBox="1"/>
          <p:nvPr/>
        </p:nvSpPr>
        <p:spPr bwMode="auto">
          <a:xfrm>
            <a:off x="5629478" y="6168452"/>
            <a:ext cx="650343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600" b="1">
                <a:latin typeface="Calibri"/>
                <a:ea typeface="+mn-lt"/>
                <a:cs typeface="+mn-lt"/>
              </a:rPr>
              <a:t>Fig 2 : X-RD, SEM and EDS analysis of Cathode powder</a:t>
            </a:r>
            <a:endParaRPr/>
          </a:p>
        </p:txBody>
      </p:sp>
      <p:graphicFrame>
        <p:nvGraphicFramePr>
          <p:cNvPr id="270459819" name="Object 6"/>
          <p:cNvGraphicFramePr>
            <a:graphicFrameLocks xmlns:a="http://schemas.openxmlformats.org/drawingml/2006/main" noChangeAspect="1"/>
          </p:cNvGraphicFramePr>
          <p:nvPr/>
        </p:nvGraphicFramePr>
        <p:xfrm>
          <a:off x="525606" y="541843"/>
          <a:ext cx="5312650" cy="3687860"/>
        </p:xfrm>
        <a:graphic>
          <a:graphicData uri="http://schemas.openxmlformats.org/presentationml/2006/ole">
            <p:oleObj name="oleObj" r:id="rId8" imgW="10330180" imgH="7254240" progId="Origin50.Graph">
              <p:embed/>
              <p:pic>
                <p:nvPicPr>
                  <p:cNvPr id="270459819" name="Object 6"/>
                  <p:cNvPicPr/>
                  <p:nvPr/>
                </p:nvPicPr>
                <p:blipFill rotWithShape="1">
                  <a:blip r:embed="rId7"/>
                  <a:stretch/>
                </p:blipFill>
                <p:spPr bwMode="auto">
                  <a:xfrm>
                    <a:off x="525606" y="541843"/>
                    <a:ext cx="5312650" cy="368786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5251508" name="Picture 2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5761220" y="884418"/>
            <a:ext cx="5651292" cy="4543425"/>
          </a:xfrm>
          <a:prstGeom prst="rect">
            <a:avLst/>
          </a:prstGeom>
          <a:noFill/>
        </p:spPr>
      </p:pic>
      <p:pic>
        <p:nvPicPr>
          <p:cNvPr id="1963656338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9488" y="884418"/>
            <a:ext cx="5287211" cy="4543425"/>
          </a:xfrm>
          <a:prstGeom prst="rect">
            <a:avLst/>
          </a:prstGeom>
        </p:spPr>
      </p:pic>
      <p:sp>
        <p:nvSpPr>
          <p:cNvPr id="1056268912" name="TextBox 2"/>
          <p:cNvSpPr txBox="1"/>
          <p:nvPr/>
        </p:nvSpPr>
        <p:spPr bwMode="auto">
          <a:xfrm>
            <a:off x="3095470" y="194872"/>
            <a:ext cx="596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>
                <a:latin typeface="Times New Roman"/>
                <a:cs typeface="Times New Roman"/>
              </a:rPr>
              <a:t>Electrochemical analysis of the cell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6077159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651855"/>
            <a:ext cx="3852472" cy="5188599"/>
          </a:xfrm>
          <a:prstGeom prst="rect">
            <a:avLst/>
          </a:prstGeom>
        </p:spPr>
      </p:pic>
      <p:graphicFrame>
        <p:nvGraphicFramePr>
          <p:cNvPr id="506574457" name="Object 1"/>
          <p:cNvGraphicFramePr>
            <a:graphicFrameLocks xmlns:a="http://schemas.openxmlformats.org/drawingml/2006/main" noChangeAspect="1"/>
          </p:cNvGraphicFramePr>
          <p:nvPr/>
        </p:nvGraphicFramePr>
        <p:xfrm>
          <a:off x="3535767" y="651855"/>
          <a:ext cx="3852472" cy="4968875"/>
        </p:xfrm>
        <a:graphic>
          <a:graphicData uri="http://schemas.openxmlformats.org/presentationml/2006/ole">
            <p:oleObj name="oleObj" r:id="rId5" imgW="9801860" imgH="7502525" progId="Origin95.Graph">
              <p:embed/>
              <p:pic>
                <p:nvPicPr>
                  <p:cNvPr id="506574457" name="Object 1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3535767" y="651855"/>
                    <a:ext cx="3852472" cy="4968875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593532083" name="Picture 4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910466" y="707311"/>
            <a:ext cx="5111645" cy="5188600"/>
          </a:xfrm>
          <a:prstGeom prst="rect">
            <a:avLst/>
          </a:prstGeom>
        </p:spPr>
      </p:pic>
      <p:sp>
        <p:nvSpPr>
          <p:cNvPr id="561266070" name="TextBox 5"/>
          <p:cNvSpPr txBox="1"/>
          <p:nvPr/>
        </p:nvSpPr>
        <p:spPr bwMode="auto">
          <a:xfrm>
            <a:off x="2962852" y="6150689"/>
            <a:ext cx="650343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600" b="1">
                <a:latin typeface="Calibri"/>
                <a:ea typeface="+mn-lt"/>
                <a:cs typeface="+mn-lt"/>
              </a:rPr>
              <a:t>Fig 3 : Electrochemical analysis of the Cell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81022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6000" y="776046"/>
            <a:ext cx="5662004" cy="4114800"/>
          </a:xfrm>
          <a:prstGeom prst="rect">
            <a:avLst/>
          </a:prstGeom>
        </p:spPr>
      </p:pic>
      <p:sp>
        <p:nvSpPr>
          <p:cNvPr id="33251953" name="TextBox 2"/>
          <p:cNvSpPr txBox="1"/>
          <p:nvPr/>
        </p:nvSpPr>
        <p:spPr bwMode="auto">
          <a:xfrm>
            <a:off x="217" y="72458"/>
            <a:ext cx="113903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000" b="1">
                <a:cs typeface="Calibri"/>
              </a:rPr>
              <a:t>                                                                  </a:t>
            </a:r>
            <a:r>
              <a:rPr lang="en-US" sz="2400" b="1">
                <a:latin typeface="Times New Roman"/>
                <a:cs typeface="Times New Roman"/>
              </a:rPr>
              <a:t> De-crimping of Sodium half cell</a:t>
            </a:r>
            <a:endParaRPr/>
          </a:p>
        </p:txBody>
      </p:sp>
      <p:pic>
        <p:nvPicPr>
          <p:cNvPr id="760364048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3200" y="731381"/>
            <a:ext cx="5402173" cy="4114800"/>
          </a:xfrm>
          <a:prstGeom prst="rect">
            <a:avLst/>
          </a:prstGeom>
        </p:spPr>
      </p:pic>
      <p:sp>
        <p:nvSpPr>
          <p:cNvPr id="674018689" name="TextBox 6"/>
          <p:cNvSpPr txBox="1"/>
          <p:nvPr/>
        </p:nvSpPr>
        <p:spPr bwMode="auto">
          <a:xfrm>
            <a:off x="2844281" y="6081954"/>
            <a:ext cx="650343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600" b="1">
                <a:latin typeface="Calibri"/>
                <a:ea typeface="+mn-lt"/>
                <a:cs typeface="+mn-lt"/>
              </a:rPr>
              <a:t>Fig 4 : Postmortem analysis of Cell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1525569" name="Picture 2" descr="Thank You Images – Browse 275,546 Stock Photos, Vectors, and Video | Adobe  Stock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855957" y="1005840"/>
            <a:ext cx="10480086" cy="445403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ABDUSSALAM  USMANI</dc:creator>
  <cp:lastModifiedBy/>
  <cp:revision>27</cp:revision>
  <dcterms:created xsi:type="dcterms:W3CDTF">2025-05-10T09:58:52Z</dcterms:created>
  <dcterms:modified xsi:type="dcterms:W3CDTF">2026-03-31T07:38:14Z</dcterms:modified>
</cp:coreProperties>
</file>